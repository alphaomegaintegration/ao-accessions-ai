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opportunity: the ROTC year is one long, paper-heavy, multi-actor case. We can treat it as a single AI-augmented case and compress it without ever letting AI make the call on eligibility, selection, or clearance.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path: lead capture → application → eligibility → interview → medical → boards → offer → SF-86 → adjudication → contracting. The dark bottom lane is the platform backbone that carries the single case record and the API integrations. Teal AI badges mark where AI/automation intervenes.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27324F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572000"/>
            <a:ext cx="3840480" cy="3840480"/>
          </a:xfrm>
          <a:prstGeom prst="ellipse">
            <a:avLst/>
          </a:prstGeom>
          <a:solidFill>
            <a:srgbClr val="27324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FE3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OMEGA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Modernizing the Army ROTC Recruitment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Onboarding Lifecycle with AI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7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applicant form entry to ROTC acceptance &amp; contracting — compressing the ~12-month lifecycle, raising data quality, and reducing risk on a DoD Salesforce + MuleSoft + DocuSign + Azure DevOps stack.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5212080"/>
            <a:ext cx="2743200" cy="411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5349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3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 Deck  ·  Solution Concept  ·  June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58978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by design: AI augments eligibility, selection &amp; clearance work — it never decides.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challenge: a 12-month, paper-heavy, multi-actor journey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457200"/>
            <a:ext cx="0" cy="0"/>
          </a:xfrm>
          <a:prstGeom prst="ellipse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6492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0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Re-keying the same identity, education &amp; biographic data across the application, DoDMERB, SF-86 and contracting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0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Incomplete or inconsistent submissions that bounce back weeks later and restart clocks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0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document collection, verification and status-chasing over email and phone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0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applicant visibility into status — driving anxiety, abandonment and inbound inquiries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0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Disconnected systems with no single case record; cadre and adjudicators stitch context by hand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60920" y="1417320"/>
            <a:ext cx="4251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43800" y="156362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~12 mo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543800" y="22585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 form entry → acceptance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60920" y="2990088"/>
            <a:ext cx="4251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543800" y="313639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4+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543800" y="383133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forms &amp; systems, often re-keyed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60920" y="4562856"/>
            <a:ext cx="4251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43800" y="47091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7543800" y="540410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per bounce-back / rework cycle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Omega — Pre-decisional Solution Concept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lifecycle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connected stages, treated as a single instrumented case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457200"/>
            <a:ext cx="0" cy="0"/>
          </a:xfrm>
          <a:prstGeom prst="ellipse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658368" y="1554480"/>
            <a:ext cx="2121408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719072"/>
            <a:ext cx="457200" cy="457200"/>
          </a:xfrm>
          <a:prstGeom prst="ellipse">
            <a:avLst/>
          </a:prstGeom>
          <a:solidFill>
            <a:srgbClr val="E6F1F1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35024" y="1700784"/>
            <a:ext cx="13350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 &amp;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Capture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44368" y="1554480"/>
            <a:ext cx="2121408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90672" y="1719072"/>
            <a:ext cx="457200" cy="457200"/>
          </a:xfrm>
          <a:prstGeom prst="ellipse">
            <a:avLst/>
          </a:prstGeom>
          <a:solidFill>
            <a:srgbClr val="E6F1F1"/>
          </a:solidFill>
          <a:ln/>
        </p:spPr>
      </p:sp>
      <p:sp>
        <p:nvSpPr>
          <p:cNvPr id="11" name="Text 9"/>
          <p:cNvSpPr/>
          <p:nvPr/>
        </p:nvSpPr>
        <p:spPr>
          <a:xfrm>
            <a:off x="3090672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21024" y="1700784"/>
            <a:ext cx="13350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30368" y="1554480"/>
            <a:ext cx="2121408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76672" y="1719072"/>
            <a:ext cx="457200" cy="457200"/>
          </a:xfrm>
          <a:prstGeom prst="ellipse">
            <a:avLst/>
          </a:prstGeom>
          <a:solidFill>
            <a:srgbClr val="E6F1F1"/>
          </a:solidFill>
          <a:ln/>
        </p:spPr>
      </p:sp>
      <p:sp>
        <p:nvSpPr>
          <p:cNvPr id="15" name="Text 13"/>
          <p:cNvSpPr/>
          <p:nvPr/>
        </p:nvSpPr>
        <p:spPr>
          <a:xfrm>
            <a:off x="5376672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07024" y="1700784"/>
            <a:ext cx="13350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&amp;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16368" y="1554480"/>
            <a:ext cx="2121408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662672" y="1719072"/>
            <a:ext cx="457200" cy="457200"/>
          </a:xfrm>
          <a:prstGeom prst="ellipse">
            <a:avLst/>
          </a:prstGeom>
          <a:solidFill>
            <a:srgbClr val="E6F1F1"/>
          </a:solidFill>
          <a:ln/>
        </p:spPr>
      </p:sp>
      <p:sp>
        <p:nvSpPr>
          <p:cNvPr id="19" name="Text 17"/>
          <p:cNvSpPr/>
          <p:nvPr/>
        </p:nvSpPr>
        <p:spPr>
          <a:xfrm>
            <a:off x="7662672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93024" y="1700784"/>
            <a:ext cx="13350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Fitness &amp;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802368" y="1554480"/>
            <a:ext cx="2121408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948672" y="1719072"/>
            <a:ext cx="457200" cy="457200"/>
          </a:xfrm>
          <a:prstGeom prst="ellipse">
            <a:avLst/>
          </a:prstGeom>
          <a:solidFill>
            <a:srgbClr val="E6F1F1"/>
          </a:solidFill>
          <a:ln/>
        </p:spPr>
      </p:sp>
      <p:sp>
        <p:nvSpPr>
          <p:cNvPr id="23" name="Text 21"/>
          <p:cNvSpPr/>
          <p:nvPr/>
        </p:nvSpPr>
        <p:spPr>
          <a:xfrm>
            <a:off x="9948672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479024" y="1700784"/>
            <a:ext cx="13350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PMS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8368" y="3154680"/>
            <a:ext cx="2121408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4672" y="3319272"/>
            <a:ext cx="457200" cy="457200"/>
          </a:xfrm>
          <a:prstGeom prst="ellipse">
            <a:avLst/>
          </a:prstGeom>
          <a:solidFill>
            <a:srgbClr val="E6F1F1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35024" y="3300984"/>
            <a:ext cx="13350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944368" y="3154680"/>
            <a:ext cx="2121408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090672" y="3319272"/>
            <a:ext cx="457200" cy="457200"/>
          </a:xfrm>
          <a:prstGeom prst="ellipse">
            <a:avLst/>
          </a:prstGeom>
          <a:solidFill>
            <a:srgbClr val="E6F1F1"/>
          </a:solidFill>
          <a:ln/>
        </p:spPr>
      </p:sp>
      <p:sp>
        <p:nvSpPr>
          <p:cNvPr id="31" name="Text 29"/>
          <p:cNvSpPr/>
          <p:nvPr/>
        </p:nvSpPr>
        <p:spPr>
          <a:xfrm>
            <a:off x="3090672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21024" y="3300984"/>
            <a:ext cx="13350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&amp;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230368" y="3154680"/>
            <a:ext cx="2121408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376672" y="3319272"/>
            <a:ext cx="457200" cy="457200"/>
          </a:xfrm>
          <a:prstGeom prst="ellipse">
            <a:avLst/>
          </a:prstGeom>
          <a:solidFill>
            <a:srgbClr val="E6F1F1"/>
          </a:solidFill>
          <a:ln/>
        </p:spPr>
      </p:sp>
      <p:sp>
        <p:nvSpPr>
          <p:cNvPr id="35" name="Text 33"/>
          <p:cNvSpPr/>
          <p:nvPr/>
        </p:nvSpPr>
        <p:spPr>
          <a:xfrm>
            <a:off x="5376672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907024" y="3300984"/>
            <a:ext cx="13350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SF-86 &amp;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Adjudication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516368" y="3154680"/>
            <a:ext cx="2121408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662672" y="3319272"/>
            <a:ext cx="457200" cy="457200"/>
          </a:xfrm>
          <a:prstGeom prst="ellipse">
            <a:avLst/>
          </a:prstGeom>
          <a:solidFill>
            <a:srgbClr val="E6F1F1"/>
          </a:solidFill>
          <a:ln/>
        </p:spPr>
      </p:sp>
      <p:sp>
        <p:nvSpPr>
          <p:cNvPr id="39" name="Text 37"/>
          <p:cNvSpPr/>
          <p:nvPr/>
        </p:nvSpPr>
        <p:spPr>
          <a:xfrm>
            <a:off x="7662672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S9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193024" y="3300984"/>
            <a:ext cx="13350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Contracting &amp;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9802368" y="3154680"/>
            <a:ext cx="2121408" cy="1325880"/>
          </a:xfrm>
          <a:prstGeom prst="roundRect">
            <a:avLst>
              <a:gd name="adj" fmla="val 6207"/>
            </a:avLst>
          </a:prstGeom>
          <a:solidFill>
            <a:srgbClr val="1F2A44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948672" y="3319272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43" name="Text 41"/>
          <p:cNvSpPr/>
          <p:nvPr/>
        </p:nvSpPr>
        <p:spPr>
          <a:xfrm>
            <a:off x="9948672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479024" y="3300984"/>
            <a:ext cx="13350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Mgmt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(cross-cutting)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58368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stage carries an AI / automation lever — detailed on the following slides.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Omega — Pre-decisional Solution Concept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Business-flow swimlane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does what, when — across the ~12-month lifecycle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457200"/>
            <a:ext cx="0" cy="0"/>
          </a:xfrm>
          <a:prstGeom prst="ellipse">
            <a:avLst/>
          </a:prstGeom>
          <a:noFill/>
          <a:ln/>
        </p:spPr>
      </p:sp>
      <p:pic>
        <p:nvPicPr>
          <p:cNvPr id="5" name="Image 0" descr="/sessions/beautiful-eager-clarke/mnt/outputs/rotc_swimla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" y="1325880"/>
            <a:ext cx="11430000" cy="53747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Omega — Pre-decisional Solution Concept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for two people first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student completing the forms, and the adjudicator reviewing them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457200"/>
            <a:ext cx="0" cy="0"/>
          </a:xfrm>
          <a:prstGeom prst="ellipse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502920" y="1325880"/>
            <a:ext cx="5440680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25880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0E7C7B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691640"/>
            <a:ext cx="5440680" cy="20116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2588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Student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large, overlapping forms (application, then SF-86)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Reconstructs 7–10 years of history from memory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feedback until a reviewer rejects the packet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view of what's done vs. pending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886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16052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Conversational, guided intake in plain language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Consented pre-fill reuses data across forms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validation &amp; a live 'readiness' score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a document → auto-extracted &amp; filed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Always-on status portal and proactive nudges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45352" y="1325880"/>
            <a:ext cx="5440680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45352" y="1325880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A4402A"/>
          </a:solidFill>
          <a:ln/>
        </p:spPr>
      </p:sp>
      <p:sp>
        <p:nvSpPr>
          <p:cNvPr id="15" name="Shape 13"/>
          <p:cNvSpPr/>
          <p:nvPr/>
        </p:nvSpPr>
        <p:spPr>
          <a:xfrm>
            <a:off x="6245352" y="1691640"/>
            <a:ext cx="5440680" cy="201168"/>
          </a:xfrm>
          <a:prstGeom prst="rect">
            <a:avLst/>
          </a:prstGeom>
          <a:solidFill>
            <a:srgbClr val="A4402A"/>
          </a:solidFill>
          <a:ln/>
        </p:spPr>
      </p:sp>
      <p:sp>
        <p:nvSpPr>
          <p:cNvPr id="16" name="Text 14"/>
          <p:cNvSpPr/>
          <p:nvPr/>
        </p:nvSpPr>
        <p:spPr>
          <a:xfrm>
            <a:off x="6473952" y="132588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Adjudicator / Cadre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73952" y="2011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19672" y="228600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Manually reads long packets and SF-86s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lost on incomplete submissions &amp; interrogatories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across spreadsheets, email, many systems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prioritize highest-risk / nearest-deadline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73952" y="3886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19672" y="416052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summarizes packet, flags gaps, links evidence to guideline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complete, validated cases reach review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ranked by deadline &amp; risk; next-best-action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case record with full, defensible audit trail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Guardrail: AI surfaces and organizes information; eligibility, selection and clearance decisions remain human under SEAD 4.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opportunity matrix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→ method → platform component → value lever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457200"/>
            <a:ext cx="0" cy="0"/>
          </a:xfrm>
          <a:prstGeom prst="ellipse">
            <a:avLst/>
          </a:prstGeom>
          <a:noFill/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286000"/>
                <a:gridCol w="2788920"/>
                <a:gridCol w="274320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Pain today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method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 component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 lever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 intake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Abandonment, partial data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Conversational AI, pre-fill, validation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Salesforce + Azure OpenAI; MuleSoft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 + experience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Docs &amp; eligibility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checks, rework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 AI (OCR/IDP) + rules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Azure AI Doc Intelligence; SF Flow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 + risk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Fitness &amp; medical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Scheduling, silent remedials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Scheduling, status sync, prediction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MuleSoft ↔ DoDMERB; ML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PMS interview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Coordination, scoring drift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Summarization, rubric checks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Azure OpenAI; Salesforce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Selection boards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Packet assembly, ranking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Auto-assembly, completeness, analytics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Salesforce; Azure ML (human-decided)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 + quality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Offer &amp; acceptance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letters, tracking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Generated correspondence, e-sign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DocuSign; SF; Azure OpenAI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SF-86 clearance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Errors, long cycle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Pre-fill, validation, copilot, triage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SF; MuleSoft ↔ e-QIP/NBIS; Azure 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four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Contracting/onboarding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onboarding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Orchestration, provisioning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Flow Orch.; MuleSoft; DocuSign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 + risk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 mgmt (cross-cut)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unified view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SLA automation, next-best-action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Salesforce Service Cloud / PSS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four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Omega — Pre-decisional Solution Concept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use cases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Sequenced to deliver early value, then intelligence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457200"/>
            <a:ext cx="0" cy="0"/>
          </a:xfrm>
          <a:prstGeom prst="ellipse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502920" y="1463040"/>
            <a:ext cx="3611880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664208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E6F1F1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16642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4088" y="2176272"/>
            <a:ext cx="3209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conversational intake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04088" y="2944368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completion, cleaner first-pass data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1463040"/>
            <a:ext cx="3611880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98848" y="1664208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E6F1F1"/>
          </a:solidFill>
          <a:ln/>
        </p:spPr>
      </p:sp>
      <p:sp>
        <p:nvSpPr>
          <p:cNvPr id="12" name="Text 10"/>
          <p:cNvSpPr/>
          <p:nvPr/>
        </p:nvSpPr>
        <p:spPr>
          <a:xfrm>
            <a:off x="4498848" y="16642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98848" y="2176272"/>
            <a:ext cx="3209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AI &amp; eligibility checks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498848" y="2944368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verification, early exceptions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92440" y="1463040"/>
            <a:ext cx="3611880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93608" y="1664208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E6F1F1"/>
          </a:solidFill>
          <a:ln/>
        </p:spPr>
      </p:sp>
      <p:sp>
        <p:nvSpPr>
          <p:cNvPr id="17" name="Text 15"/>
          <p:cNvSpPr/>
          <p:nvPr/>
        </p:nvSpPr>
        <p:spPr>
          <a:xfrm>
            <a:off x="8293608" y="16642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93608" y="2176272"/>
            <a:ext cx="3209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 packet assembly + scoring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293608" y="2944368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Boards see only complete packets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3840480"/>
            <a:ext cx="3611880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4088" y="4041648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E6F1F1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" y="40416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4088" y="4553712"/>
            <a:ext cx="3209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SF-86 pre-fill, validation &amp; copilot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04088" y="5321808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errors; faster investigation start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297680" y="3840480"/>
            <a:ext cx="3611880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98848" y="4041648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E6F1F1"/>
          </a:solidFill>
          <a:ln/>
        </p:spPr>
      </p:sp>
      <p:sp>
        <p:nvSpPr>
          <p:cNvPr id="27" name="Text 25"/>
          <p:cNvSpPr/>
          <p:nvPr/>
        </p:nvSpPr>
        <p:spPr>
          <a:xfrm>
            <a:off x="4498848" y="40416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98848" y="4553712"/>
            <a:ext cx="3209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Adjudicator / reviewer copilot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4498848" y="5321808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review-time cut; defensible, logged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92440" y="3840480"/>
            <a:ext cx="3611880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93608" y="4041648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E6F1F1"/>
          </a:solidFill>
          <a:ln/>
        </p:spPr>
      </p:sp>
      <p:sp>
        <p:nvSpPr>
          <p:cNvPr id="32" name="Text 30"/>
          <p:cNvSpPr/>
          <p:nvPr/>
        </p:nvSpPr>
        <p:spPr>
          <a:xfrm>
            <a:off x="8293608" y="40416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UC-09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93608" y="4553712"/>
            <a:ext cx="3209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prioritization &amp; next-best-action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8293608" y="5321808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case worked first; fewer breaches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Omega — Pre-decisional Solution Concept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Target-state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API-led, governed AI, secure by design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457200"/>
            <a:ext cx="0" cy="0"/>
          </a:xfrm>
          <a:prstGeom prst="ellipse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E6F1F1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1732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474720" y="141732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6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Experience Cloud portals (applicant &amp; cadre) · conversational assistants · DocuSign signing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EAF2E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24028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/ Case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74720" y="224028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6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Service Cloud / Public Sector Solutions — system of record, Flow &amp; Orchestration, SLAs, knowledge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CFE3E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06324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services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306324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6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OpenAI &amp; Azure AI (Document Intelligence, ML) + Salesforce Einstein — governed, in-boundary, human-in-the-loop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0E7C7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388620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(backbone)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74720" y="388620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AF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MuleSoft API-led layer → DoDMERB · e-QIP/NBIS · SIS/enrollment · DEERS/IdAM · pay  (capture once, reuse everywhere)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5EEC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470916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&amp; e-sign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474720" y="470916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6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DocuSign for offers, acceptance, contracting and consent capture — integrated to the case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53212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E7ECE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553212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&amp; security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474720" y="553212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6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at the appropriate DoD Impact Level · zero-trust · RBAC/ABAC · full audit · DevSecOps pipelines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Omega — Pre-decisional Solution Concept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AI, security &amp; governance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457200"/>
            <a:ext cx="0" cy="0"/>
          </a:xfrm>
          <a:prstGeom prst="ellipse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548640" y="1325880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36776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367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49047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 by design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856232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summarizes, validates and recommends. Eligibility, selection and clearance determinations are made by authorized humans under SEAD 4 — every assisted step logged.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24328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935224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9352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27889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deterministic + generative AI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1546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engines handle policy-bound checks for predictability and auditability; generative AI handles language tasks within guardrails.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22776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233672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33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40873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protection &amp; boundary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453128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minimization, encryption, strict RBAC/ABAC, DCSA-aligned SF-86 handling; AI runs inside the accredited DoD boundary at the correct Impact Level.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221224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53212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532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54480" y="538581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 &amp; traceability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5751576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evaluation, explainable scoring, and a clear record of how each recommendation was produced — inspection-ready.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Omega — Pre-decisional Solution Concept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Delivery: SAFe + DevSecOps on Azure DevOps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457200"/>
            <a:ext cx="0" cy="0"/>
          </a:xfrm>
          <a:prstGeom prst="ellipse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184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00200" y="167335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Agile Release Train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Lifecycle-aligned features, PI planning, continuous demos to USACC, DoDMERB &amp; clearance stakeholders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6184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315200" y="167335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DevOps hub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37960" y="24231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Backlog, boards, repos &amp; pipelines as one delivery system — traceable requirement → deployed change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9044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00200" y="395935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DevSecOps pipelines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" y="47091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for Salesforce (SFDX) &amp; MuleSoft with automated test, security scanning, policy-as-code gates, rollback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3703320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39044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315200" y="395935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ATO posture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37960" y="47091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controls &amp; evidence automated into the pipeline to shorten and sustain authorization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Omega — Pre-decisional Solution Concept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Phased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Crawl, walk, run — value at every step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457200"/>
            <a:ext cx="0" cy="0"/>
          </a:xfrm>
          <a:prstGeom prst="ellipse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502920" y="1417320"/>
            <a:ext cx="3566160" cy="46634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1732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0E7C7B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011680"/>
            <a:ext cx="3566160" cy="2743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81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Crawl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" y="2514600"/>
            <a:ext cx="31089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Salesforce case model &amp; lifecycle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DocuSign offers/acceptance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MuleSoft system APIs (DoDMERB, clearance)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wins: guided intake, document AI, status nudges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79392" y="1417320"/>
            <a:ext cx="3566160" cy="46634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79392" y="141732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8A6D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279392" y="2011680"/>
            <a:ext cx="3566160" cy="274320"/>
          </a:xfrm>
          <a:prstGeom prst="rect">
            <a:avLst/>
          </a:prstGeom>
          <a:solidFill>
            <a:srgbClr val="8A6D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07992" y="1481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Walk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07992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35424" y="2514600"/>
            <a:ext cx="31089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SF-86 pre-fill &amp; validation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Adjudicator copilot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packet assembly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correspondence; case prioritization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55864" y="1417320"/>
            <a:ext cx="3566160" cy="46634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55864" y="141732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5B3A86"/>
          </a:solidFill>
          <a:ln/>
        </p:spPr>
      </p:sp>
      <p:sp>
        <p:nvSpPr>
          <p:cNvPr id="19" name="Shape 17"/>
          <p:cNvSpPr/>
          <p:nvPr/>
        </p:nvSpPr>
        <p:spPr>
          <a:xfrm>
            <a:off x="8055864" y="2011680"/>
            <a:ext cx="3566160" cy="274320"/>
          </a:xfrm>
          <a:prstGeom prst="rect">
            <a:avLst/>
          </a:prstGeom>
          <a:solidFill>
            <a:srgbClr val="5B3A86"/>
          </a:solidFill>
          <a:ln/>
        </p:spPr>
      </p:sp>
      <p:sp>
        <p:nvSpPr>
          <p:cNvPr id="20" name="Text 18"/>
          <p:cNvSpPr/>
          <p:nvPr/>
        </p:nvSpPr>
        <p:spPr>
          <a:xfrm>
            <a:off x="8284464" y="1481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— Run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84464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11896" y="2514600"/>
            <a:ext cx="31089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analytics across the pipeline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orchestration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data-quality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Continuous-ATO maturity; expand to other pipelines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Omega — Pre-decisional Solution Concept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023360" cy="4023360"/>
          </a:xfrm>
          <a:prstGeom prst="ellipse">
            <a:avLst/>
          </a:prstGeom>
          <a:solidFill>
            <a:srgbClr val="27324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27324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Cycle time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7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entry → acceptance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74720" y="155448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27324F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1737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 Data quality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7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first-pass completeness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27324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737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Rework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7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interrogatories / bounce-backs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61120" y="155448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27324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0" y="1737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Burden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7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cadre &amp; adjudicator hours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1520" y="35204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7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experience for the student and the adjudicator — with every eligibility, selection and clearance decision firmly in human hands.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4572000"/>
            <a:ext cx="2743200" cy="411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7548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step: a discovery session and a Continuum Design proof-of-concept to baseline current state and prioritize the first increment.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 Brown, SVP National Security Solutions  ·  robert.brown@alphaomega.com  ·  Alpha Omega Integration LLC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Army ROTC Lifecycle AI Modernization</dc:title>
  <dc:subject>PptxGenJS Presentation</dc:subject>
  <dc:creator>Alpha Omega Integration LLC</dc:creator>
  <cp:lastModifiedBy>Alpha Omega Integration LLC</cp:lastModifiedBy>
  <cp:revision>1</cp:revision>
  <dcterms:created xsi:type="dcterms:W3CDTF">2026-06-25T20:28:35Z</dcterms:created>
  <dcterms:modified xsi:type="dcterms:W3CDTF">2026-06-25T20:28:35Z</dcterms:modified>
</cp:coreProperties>
</file>