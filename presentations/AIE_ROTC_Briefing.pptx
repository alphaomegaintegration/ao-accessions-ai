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AIE is the Army's Accessions Information Environment — COTS, commercial cloud, IL4. ROTC is the officer/scholarship pipeline within it. This deck maps AI to the actual RTM requirements.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dark bottom lane is the AIE platform backbone (single record, MuleSoft to SORs, DocuSign, RPA, IL4). Teal AI badges mark AI levers. Bracketed IDs trace to the RTM.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206240" cy="4206240"/>
          </a:xfrm>
          <a:prstGeom prst="ellipse">
            <a:avLst/>
          </a:prstGeom>
          <a:solidFill>
            <a:srgbClr val="27324F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572000"/>
            <a:ext cx="3840480" cy="3840480"/>
          </a:xfrm>
          <a:prstGeom prst="ellipse">
            <a:avLst/>
          </a:prstGeom>
          <a:solidFill>
            <a:srgbClr val="27324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FE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OMEGA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3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AI-Enabled ROTC Accessions in the Army</a:t>
            </a:r>
            <a:endParaRPr lang="en-US" sz="3600" dirty="0"/>
          </a:p>
          <a:p>
            <a:pPr indent="0" marL="0">
              <a:lnSpc>
                <a:spcPts val="43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Accessions Information Environment (AIE)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the ROTC officer-accessions lifecycle to the AIE Functional RTM — ideas, use cases &amp; business flows on AIE's COTS Salesforce + MuleSoft + DocuSign + Azure foundation.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892040"/>
            <a:ext cx="2743200" cy="411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E3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Briefing Deck  ·  Solution Concept  ·  June 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8F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Bracketed IDs (e.g., 3.4.4.18) cite AIE RTM requirements. Human-in-the-loop by design: AI never decides eligibility, selection, suitability, or clearance.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AIE at a glance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“A multi-network, multi-device, secure COTS solution in commercial cloud that automates accessions &amp; recruiting.” (OV-1)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179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~30,000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Cadets recruited &amp; developed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46704" y="13716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9584" y="15179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~14,000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29584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Scholarships managed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44768" y="13716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27648" y="15179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~5,100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27648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Recruiters / staff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942832" y="1371600"/>
            <a:ext cx="26517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25712" y="151790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~1,000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25712" y="21945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ROTC locations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3108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ROTC accessions span three sub-paths, all built on the shared AIE foundation: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61188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611880"/>
            <a:ext cx="3520440" cy="566928"/>
          </a:xfrm>
          <a:prstGeom prst="roundRect">
            <a:avLst>
              <a:gd name="adj" fmla="val 16129"/>
            </a:avLst>
          </a:prstGeom>
          <a:solidFill>
            <a:srgbClr val="0E7C7B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640" y="3977640"/>
            <a:ext cx="3520440" cy="20116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749808" y="361188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Scholarship Program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749808" y="43891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4-yr, Green-to-Gold, on-campus &amp; campus-based awards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51960" y="361188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51960" y="3611880"/>
            <a:ext cx="3520440" cy="566928"/>
          </a:xfrm>
          <a:prstGeom prst="roundRect">
            <a:avLst>
              <a:gd name="adj" fmla="val 16129"/>
            </a:avLst>
          </a:prstGeom>
          <a:solidFill>
            <a:srgbClr val="0E7C7B"/>
          </a:solidFill>
          <a:ln/>
        </p:spPr>
      </p:sp>
      <p:sp>
        <p:nvSpPr>
          <p:cNvPr id="24" name="Shape 22"/>
          <p:cNvSpPr/>
          <p:nvPr/>
        </p:nvSpPr>
        <p:spPr>
          <a:xfrm>
            <a:off x="4251960" y="3977640"/>
            <a:ext cx="3520440" cy="20116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5" name="Text 23"/>
          <p:cNvSpPr/>
          <p:nvPr/>
        </p:nvSpPr>
        <p:spPr>
          <a:xfrm>
            <a:off x="4453128" y="361188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On-Campus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4453128" y="43891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I–IV enrollment, screening, contracting &amp; Cadet management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955280" y="361188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955280" y="3611880"/>
            <a:ext cx="3520440" cy="566928"/>
          </a:xfrm>
          <a:prstGeom prst="roundRect">
            <a:avLst>
              <a:gd name="adj" fmla="val 16129"/>
            </a:avLst>
          </a:prstGeom>
          <a:solidFill>
            <a:srgbClr val="0E7C7B"/>
          </a:solidFill>
          <a:ln/>
        </p:spPr>
      </p:sp>
      <p:sp>
        <p:nvSpPr>
          <p:cNvPr id="29" name="Shape 27"/>
          <p:cNvSpPr/>
          <p:nvPr/>
        </p:nvSpPr>
        <p:spPr>
          <a:xfrm>
            <a:off x="7955280" y="3977640"/>
            <a:ext cx="3520440" cy="20116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0" name="Text 28"/>
          <p:cNvSpPr/>
          <p:nvPr/>
        </p:nvSpPr>
        <p:spPr>
          <a:xfrm>
            <a:off x="8156448" y="3611880"/>
            <a:ext cx="3154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Summer Training Camps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8156448" y="438912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&amp; Advanced Camp (CST) and CPDT, with camp medical screening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Omega — AIE ROTC Accessions  ·  Pre-decisional, RTM-traced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AIE capability framework — where ROTC lives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ROTC lifecycle touches all eight RTM capabilities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743200" cy="1828800"/>
          </a:xfrm>
          <a:prstGeom prst="roundRect">
            <a:avLst>
              <a:gd name="adj" fmla="val 4500"/>
            </a:avLst>
          </a:prstGeom>
          <a:solidFill>
            <a:srgbClr val="E6F1F1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8191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Foundation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25856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record, forms generate/sign, integration, IL4 security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92424" y="1417320"/>
            <a:ext cx="2743200" cy="1828800"/>
          </a:xfrm>
          <a:prstGeom prst="roundRect">
            <a:avLst>
              <a:gd name="adj" fmla="val 4500"/>
            </a:avLst>
          </a:prstGeom>
          <a:solidFill>
            <a:srgbClr val="EAF2E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75304" y="158191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CRM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75304" y="225856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Leads, scholarship apps &amp; boards, pre-screen, digital interview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81928" y="1417320"/>
            <a:ext cx="2743200" cy="1828800"/>
          </a:xfrm>
          <a:prstGeom prst="roundRect">
            <a:avLst>
              <a:gd name="adj" fmla="val 4500"/>
            </a:avLst>
          </a:prstGeom>
          <a:solidFill>
            <a:srgbClr val="F5EEC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64808" y="158191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Processing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64808" y="225856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Eligibility, DoDMERB/security interfaces, contracting, RPA, Cadet mgmt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71432" y="1417320"/>
            <a:ext cx="2743200" cy="1828800"/>
          </a:xfrm>
          <a:prstGeom prst="roundRect">
            <a:avLst>
              <a:gd name="adj" fmla="val 4500"/>
            </a:avLst>
          </a:prstGeom>
          <a:solidFill>
            <a:srgbClr val="EFEAF4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54312" y="158191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On-Boarding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354312" y="2258568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ROTC accession orders, branch/component, commissioning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502152"/>
            <a:ext cx="2743200" cy="1828800"/>
          </a:xfrm>
          <a:prstGeom prst="roundRect">
            <a:avLst>
              <a:gd name="adj" fmla="val 4500"/>
            </a:avLst>
          </a:prstGeom>
          <a:solidFill>
            <a:srgbClr val="CFE3E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66674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Intelligence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5800" y="4343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COAs, scholarship-funding modeling, PMS forecasts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92424" y="3502152"/>
            <a:ext cx="2743200" cy="1828800"/>
          </a:xfrm>
          <a:prstGeom prst="roundRect">
            <a:avLst>
              <a:gd name="adj" fmla="val 4500"/>
            </a:avLst>
          </a:prstGeom>
          <a:solidFill>
            <a:srgbClr val="FBEAE6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75304" y="366674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Marketing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75304" y="4343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Propensity &amp; campaign targeting to feed the pipeline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81928" y="3502152"/>
            <a:ext cx="2743200" cy="1828800"/>
          </a:xfrm>
          <a:prstGeom prst="roundRect">
            <a:avLst>
              <a:gd name="adj" fmla="val 4500"/>
            </a:avLst>
          </a:prstGeom>
          <a:solidFill>
            <a:srgbClr val="E6F1F1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64808" y="366674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Training &amp; Leader Dev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64808" y="4343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LMS (MS I–IV), Basic/Advanced Camp, camp medical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171432" y="3502152"/>
            <a:ext cx="2743200" cy="1828800"/>
          </a:xfrm>
          <a:prstGeom prst="roundRect">
            <a:avLst>
              <a:gd name="adj" fmla="val 4500"/>
            </a:avLst>
          </a:prstGeom>
          <a:solidFill>
            <a:srgbClr val="EAF2E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54312" y="366674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Sustain &amp; Support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54312" y="43434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DD-918 agreements, retention reviews, Cadre hierarchy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Omega — AIE ROTC Accessions  ·  Pre-decisional, RTM-traced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ROTC lifecycle in AIE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connected stages — each traced to RTM requirement IDs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212140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0784"/>
            <a:ext cx="420624" cy="420624"/>
          </a:xfrm>
          <a:prstGeom prst="ellipse">
            <a:avLst/>
          </a:prstGeom>
          <a:solidFill>
            <a:srgbClr val="E6F1F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00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98448" y="171907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&amp; Prospect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4672" y="254203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[2.1]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944368" y="1554480"/>
            <a:ext cx="212140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90672" y="1700784"/>
            <a:ext cx="420624" cy="420624"/>
          </a:xfrm>
          <a:prstGeom prst="ellipse">
            <a:avLst/>
          </a:prstGeom>
          <a:solidFill>
            <a:srgbClr val="E6F1F1"/>
          </a:solidFill>
          <a:ln/>
        </p:spPr>
      </p:sp>
      <p:sp>
        <p:nvSpPr>
          <p:cNvPr id="11" name="Text 9"/>
          <p:cNvSpPr/>
          <p:nvPr/>
        </p:nvSpPr>
        <p:spPr>
          <a:xfrm>
            <a:off x="3090672" y="1700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84448" y="171907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Scholarship App &amp; CBEF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90672" y="254203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[2.1.4]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30368" y="1554480"/>
            <a:ext cx="212140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76672" y="1700784"/>
            <a:ext cx="420624" cy="420624"/>
          </a:xfrm>
          <a:prstGeom prst="ellipse">
            <a:avLst/>
          </a:prstGeom>
          <a:solidFill>
            <a:srgbClr val="E6F1F1"/>
          </a:solidFill>
          <a:ln/>
        </p:spPr>
      </p:sp>
      <p:sp>
        <p:nvSpPr>
          <p:cNvPr id="16" name="Text 14"/>
          <p:cNvSpPr/>
          <p:nvPr/>
        </p:nvSpPr>
        <p:spPr>
          <a:xfrm>
            <a:off x="5376672" y="1700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70448" y="171907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Pre-Screen &amp; Eligibility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376672" y="254203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[2.3.1.6]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516368" y="1554480"/>
            <a:ext cx="212140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662672" y="1700784"/>
            <a:ext cx="420624" cy="420624"/>
          </a:xfrm>
          <a:prstGeom prst="ellipse">
            <a:avLst/>
          </a:prstGeom>
          <a:solidFill>
            <a:srgbClr val="E6F1F1"/>
          </a:solidFill>
          <a:ln/>
        </p:spPr>
      </p:sp>
      <p:sp>
        <p:nvSpPr>
          <p:cNvPr id="21" name="Text 19"/>
          <p:cNvSpPr/>
          <p:nvPr/>
        </p:nvSpPr>
        <p:spPr>
          <a:xfrm>
            <a:off x="7662672" y="1700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56448" y="171907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PMS Interview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662672" y="254203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[2.3]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802368" y="1554480"/>
            <a:ext cx="212140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948672" y="1700784"/>
            <a:ext cx="420624" cy="420624"/>
          </a:xfrm>
          <a:prstGeom prst="ellipse">
            <a:avLst/>
          </a:prstGeom>
          <a:solidFill>
            <a:srgbClr val="E6F1F1"/>
          </a:solidFill>
          <a:ln/>
        </p:spPr>
      </p:sp>
      <p:sp>
        <p:nvSpPr>
          <p:cNvPr id="26" name="Text 24"/>
          <p:cNvSpPr/>
          <p:nvPr/>
        </p:nvSpPr>
        <p:spPr>
          <a:xfrm>
            <a:off x="9948672" y="1700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442448" y="171907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DoDMERB Medical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948672" y="254203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[3.3.1.7]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58368" y="3200400"/>
            <a:ext cx="212140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04672" y="3346704"/>
            <a:ext cx="420624" cy="420624"/>
          </a:xfrm>
          <a:prstGeom prst="ellipse">
            <a:avLst/>
          </a:prstGeom>
          <a:solidFill>
            <a:srgbClr val="E6F1F1"/>
          </a:solidFill>
          <a:ln/>
        </p:spPr>
      </p:sp>
      <p:sp>
        <p:nvSpPr>
          <p:cNvPr id="31" name="Text 29"/>
          <p:cNvSpPr/>
          <p:nvPr/>
        </p:nvSpPr>
        <p:spPr>
          <a:xfrm>
            <a:off x="804672" y="3346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298448" y="336499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Selection Boards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04672" y="418795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[2.1.4.7]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944368" y="3200400"/>
            <a:ext cx="212140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090672" y="3346704"/>
            <a:ext cx="420624" cy="420624"/>
          </a:xfrm>
          <a:prstGeom prst="ellipse">
            <a:avLst/>
          </a:prstGeom>
          <a:solidFill>
            <a:srgbClr val="E6F1F1"/>
          </a:solidFill>
          <a:ln/>
        </p:spPr>
      </p:sp>
      <p:sp>
        <p:nvSpPr>
          <p:cNvPr id="36" name="Text 34"/>
          <p:cNvSpPr/>
          <p:nvPr/>
        </p:nvSpPr>
        <p:spPr>
          <a:xfrm>
            <a:off x="3090672" y="3346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584448" y="336499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&amp; Contract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090672" y="418795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[3.4.4]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5230368" y="3200400"/>
            <a:ext cx="212140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376672" y="3346704"/>
            <a:ext cx="420624" cy="420624"/>
          </a:xfrm>
          <a:prstGeom prst="ellipse">
            <a:avLst/>
          </a:prstGeom>
          <a:solidFill>
            <a:srgbClr val="E6F1F1"/>
          </a:solidFill>
          <a:ln/>
        </p:spPr>
      </p:sp>
      <p:sp>
        <p:nvSpPr>
          <p:cNvPr id="41" name="Text 39"/>
          <p:cNvSpPr/>
          <p:nvPr/>
        </p:nvSpPr>
        <p:spPr>
          <a:xfrm>
            <a:off x="5376672" y="3346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870448" y="336499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SF-86 Completion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376672" y="418795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[3.4.4.18]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516368" y="3200400"/>
            <a:ext cx="212140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7662672" y="3346704"/>
            <a:ext cx="420624" cy="420624"/>
          </a:xfrm>
          <a:prstGeom prst="ellipse">
            <a:avLst/>
          </a:prstGeom>
          <a:solidFill>
            <a:srgbClr val="E6F1F1"/>
          </a:solidFill>
          <a:ln/>
        </p:spPr>
      </p:sp>
      <p:sp>
        <p:nvSpPr>
          <p:cNvPr id="46" name="Text 44"/>
          <p:cNvSpPr/>
          <p:nvPr/>
        </p:nvSpPr>
        <p:spPr>
          <a:xfrm>
            <a:off x="7662672" y="3346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S9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156448" y="336499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Invest. &amp; Adjudication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7662672" y="418795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[3.4.4.25]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9802368" y="3200400"/>
            <a:ext cx="212140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948672" y="3346704"/>
            <a:ext cx="420624" cy="420624"/>
          </a:xfrm>
          <a:prstGeom prst="ellipse">
            <a:avLst/>
          </a:prstGeom>
          <a:solidFill>
            <a:srgbClr val="E6F1F1"/>
          </a:solidFill>
          <a:ln/>
        </p:spPr>
      </p:sp>
      <p:sp>
        <p:nvSpPr>
          <p:cNvPr id="51" name="Text 49"/>
          <p:cNvSpPr/>
          <p:nvPr/>
        </p:nvSpPr>
        <p:spPr>
          <a:xfrm>
            <a:off x="9948672" y="3346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442448" y="336499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F2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 &amp; Commission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9948672" y="4187952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[3.10 · 4.7]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658368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Stages 1–9 are the ~1-year application-to-contracting cycle; enrollment, training &amp; commissioning continue across MS I–IV.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Omega — AIE ROTC Accessions  ·  Pre-decisional, RTM-traced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Business-flow swimlane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does what, when — traced to AIE requirements</a:t>
            </a:r>
            <a:endParaRPr lang="en-US" sz="1350" dirty="0"/>
          </a:p>
        </p:txBody>
      </p:sp>
      <p:pic>
        <p:nvPicPr>
          <p:cNvPr id="4" name="Image 0" descr="/sessions/beautiful-eager-clarke/mnt/outputs/aie_rotc_swimla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092" y="1325880"/>
            <a:ext cx="10172767" cy="4983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Omega — AIE ROTC Accessions  ·  Pre-decisional, RTM-traced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for two people first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Cadet completing forms &amp; the SF-86 — and the adjudicator reviewing them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440680" cy="4736592"/>
          </a:xfrm>
          <a:prstGeom prst="roundRect">
            <a:avLst>
              <a:gd name="adj" fmla="val 19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25880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0E7C7B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691640"/>
            <a:ext cx="5440680" cy="20116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2588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Cadet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Overlapping forms: scholarship app, CBEF, contracting, then SF-86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Reconstructs years of history from memory for the SF-86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clearance due within 60 days of contracting [3.4.4.18]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Little feedback until pre-screen or reviewer rejects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886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416052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guided intake on community portal [2.5]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Consented pre-fill reuses core data across forms [1.4]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validation = AIE continuous screening [3.4.4.20]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capture (IDP) to single record [1.2, 1.4]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45352" y="1325880"/>
            <a:ext cx="5440680" cy="4736592"/>
          </a:xfrm>
          <a:prstGeom prst="roundRect">
            <a:avLst>
              <a:gd name="adj" fmla="val 19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45352" y="1325880"/>
            <a:ext cx="5440680" cy="566928"/>
          </a:xfrm>
          <a:prstGeom prst="roundRect">
            <a:avLst>
              <a:gd name="adj" fmla="val 16129"/>
            </a:avLst>
          </a:prstGeom>
          <a:solidFill>
            <a:srgbClr val="A4402A"/>
          </a:solidFill>
          <a:ln/>
        </p:spPr>
      </p:sp>
      <p:sp>
        <p:nvSpPr>
          <p:cNvPr id="14" name="Shape 12"/>
          <p:cNvSpPr/>
          <p:nvPr/>
        </p:nvSpPr>
        <p:spPr>
          <a:xfrm>
            <a:off x="6245352" y="1691640"/>
            <a:ext cx="5440680" cy="201168"/>
          </a:xfrm>
          <a:prstGeom prst="rect">
            <a:avLst/>
          </a:prstGeom>
          <a:solidFill>
            <a:srgbClr val="A4402A"/>
          </a:solidFill>
          <a:ln/>
        </p:spPr>
      </p:sp>
      <p:sp>
        <p:nvSpPr>
          <p:cNvPr id="15" name="Text 13"/>
          <p:cNvSpPr/>
          <p:nvPr/>
        </p:nvSpPr>
        <p:spPr>
          <a:xfrm>
            <a:off x="6473952" y="132588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Cadre / Adjudicator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73952" y="20116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19672" y="228600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 reads packets &amp; SF-86s across many SORs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lost on incomplete submissions &amp; interrogatories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manual board assembly &amp; scoring [2.1.4.7]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prioritize highest-risk / nearest-deadline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73952" y="3886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19672" y="4160520"/>
            <a:ext cx="49377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summarizes, flags gaps, links evidence→guideline [3.8.1.1]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 gating; RPA clears SOR steps [3.8]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ranked by deadline &amp; risk; next-best-action</a:t>
            </a:r>
            <a:endParaRPr lang="en-US" sz="1200" dirty="0"/>
          </a:p>
          <a:p>
            <a:pPr marL="342900" indent="-3429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Cadet record, full audit trail [2.6]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6199632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Guardrail: AI surfaces &amp; organizes; eligibility, selection, suitability &amp; clearance decisions remain human under SEAD 4.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dive: SF-86 &amp; security clearance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concrete RTM workflow — and a high-value AI target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7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17904"/>
            <a:ext cx="1051560" cy="420624"/>
          </a:xfrm>
          <a:prstGeom prst="roundRect">
            <a:avLst>
              <a:gd name="adj" fmla="val 15217"/>
            </a:avLst>
          </a:prstGeom>
          <a:solidFill>
            <a:srgbClr val="0E7C7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1790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3.4.4.18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874520" y="137160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Initiate &amp; complete SF-86 within 60 days of contracting for SECRET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371600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7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1517904"/>
            <a:ext cx="1051560" cy="420624"/>
          </a:xfrm>
          <a:prstGeom prst="roundRect">
            <a:avLst>
              <a:gd name="adj" fmla="val 15217"/>
            </a:avLst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51790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3.4.4.20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589520" y="1371600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screening &amp; data validation for accurate SF-86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212848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7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359152"/>
            <a:ext cx="1051560" cy="420624"/>
          </a:xfrm>
          <a:prstGeom prst="roundRect">
            <a:avLst>
              <a:gd name="adj" fmla="val 15217"/>
            </a:avLst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35915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3.4.4.23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874520" y="221284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Auto-identify Cadets needing Top Secret by branch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63640" y="2212848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7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2359152"/>
            <a:ext cx="1051560" cy="420624"/>
          </a:xfrm>
          <a:prstGeom prst="roundRect">
            <a:avLst>
              <a:gd name="adj" fmla="val 15217"/>
            </a:avLst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35915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3.4.4.25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589520" y="221284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with DCSA to send/receive SF-86 results &amp; docs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054096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7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200400"/>
            <a:ext cx="1051560" cy="420624"/>
          </a:xfrm>
          <a:prstGeom prst="roundRect">
            <a:avLst>
              <a:gd name="adj" fmla="val 15217"/>
            </a:avLst>
          </a:prstGeom>
          <a:solidFill>
            <a:srgbClr val="0E7C7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2004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3.4.4.21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874520" y="3054096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appeal process for denied clearances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3054096"/>
            <a:ext cx="5440680" cy="713232"/>
          </a:xfrm>
          <a:prstGeom prst="roundRect">
            <a:avLst>
              <a:gd name="adj" fmla="val 10256"/>
            </a:avLst>
          </a:prstGeom>
          <a:solidFill>
            <a:srgbClr val="F4F7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3200400"/>
            <a:ext cx="1051560" cy="420624"/>
          </a:xfrm>
          <a:prstGeom prst="roundRect">
            <a:avLst>
              <a:gd name="adj" fmla="val 15217"/>
            </a:avLst>
          </a:prstGeom>
          <a:solidFill>
            <a:srgbClr val="0E7C7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32004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3.4.4.22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589520" y="3054096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A3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 existing clearance/investigation from SOR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114800"/>
            <a:ext cx="11064240" cy="1874520"/>
          </a:xfrm>
          <a:prstGeom prst="roundRect">
            <a:avLst>
              <a:gd name="adj" fmla="val 4878"/>
            </a:avLst>
          </a:prstGeom>
          <a:solidFill>
            <a:srgbClr val="1F2A44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2519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levers mapped to these requirements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8680" y="470916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Consented SF-86 pre-fill + real-time validation — fewer errors, faster start    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Adjudicator copilot — summarize, flag gaps, link evidence to guideline, draft interrogatories    </a:t>
            </a:r>
            <a:endParaRPr lang="en-US" sz="1300" dirty="0"/>
          </a:p>
          <a:p>
            <a:pPr marL="342900" indent="-342900">
              <a:lnSpc>
                <a:spcPts val="18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8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case prioritization against the 60-day window; automated nudges    </a:t>
            </a:r>
            <a:endParaRPr lang="en-US" sz="13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300" dirty="0">
                <a:solidFill>
                  <a:srgbClr val="E8F1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RPA moves SF-86 packages &amp; DCSA responses across SOR interfaces — determinations stay human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Omega — AIE ROTC Accessions  ·  Pre-decisional, RTM-traced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opportunity matrix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→ method → AIE capability/requirement → value</a:t>
            </a:r>
            <a:endParaRPr lang="en-US" sz="13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4712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2240280"/>
                <a:gridCol w="2834640"/>
                <a:gridCol w="2697480"/>
                <a:gridCol w="16916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Pain today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method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AIE capability / req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 &amp; CBEF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Abandonment, partial data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Conversational AI, pre-fill, validation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 2.1.4; Foundation 1.4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 + exp.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Pre-screen / eligibility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checks, rework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Rules + anomaly; suitability assist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2.3.1.6, 3.8.1.1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+ risk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Interview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Coordination, scoring drift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Summarization, rubric checks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CRM 2.3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Medical (DoDMERB)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Silent delays, waivers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 sync, doc AI, prediction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3.3.1.7, 3.2.1.15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Selection boards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Packet assembly, ranking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Auto-assembly, completeness, analytics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2.1.4.7, 3.5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 + quality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Offer &amp; contract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letters, forms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Generated correspondence, e-sign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2.1.4.14, 1.3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SF-86 &amp; clearance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Errors, 60-day window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Pre-fill, validation, copilot, triage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3.4.4.18–.25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four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Enroll &amp; manage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Manual tracking, ETPs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Auto-screening, near-real-time status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 + risk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Cross-cutting workload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 manual volume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RPA across SOR steps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32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four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Omega — AIE ROTC Accessions  ·  Pre-decisional, RTM-traced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use cases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traced to AIE requirements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61188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04088" y="166420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E6F1F1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6642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04088" y="2176272"/>
            <a:ext cx="3209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Conversational app &amp; CBEF intake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04088" y="309067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RTM: 2.1.4 · 2.5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463040"/>
            <a:ext cx="361188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498848" y="166420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E6F1F1"/>
          </a:solidFill>
          <a:ln/>
        </p:spPr>
      </p:sp>
      <p:sp>
        <p:nvSpPr>
          <p:cNvPr id="11" name="Text 9"/>
          <p:cNvSpPr/>
          <p:nvPr/>
        </p:nvSpPr>
        <p:spPr>
          <a:xfrm>
            <a:off x="4498848" y="16642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98848" y="2176272"/>
            <a:ext cx="3209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AI &amp; eligibility screening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498848" y="309067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RTM: 2.3.1.6 · 3.8.1.1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2440" y="1463040"/>
            <a:ext cx="361188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93608" y="166420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E6F1F1"/>
          </a:solidFill>
          <a:ln/>
        </p:spPr>
      </p:sp>
      <p:sp>
        <p:nvSpPr>
          <p:cNvPr id="16" name="Text 14"/>
          <p:cNvSpPr/>
          <p:nvPr/>
        </p:nvSpPr>
        <p:spPr>
          <a:xfrm>
            <a:off x="8293608" y="166420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93608" y="2176272"/>
            <a:ext cx="3209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 packet assembly &amp; scoring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293608" y="309067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RTM: 2.1.4.7 · 3.5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02920" y="3840480"/>
            <a:ext cx="361188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" y="404164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E6F1F1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" y="40416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" y="4553712"/>
            <a:ext cx="3209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SF-86 pre-fill, validation &amp; copilot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04088" y="546811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RTM: 3.4.4.18 · .20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297680" y="3840480"/>
            <a:ext cx="361188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98848" y="404164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E6F1F1"/>
          </a:solidFill>
          <a:ln/>
        </p:spPr>
      </p:sp>
      <p:sp>
        <p:nvSpPr>
          <p:cNvPr id="26" name="Text 24"/>
          <p:cNvSpPr/>
          <p:nvPr/>
        </p:nvSpPr>
        <p:spPr>
          <a:xfrm>
            <a:off x="4498848" y="40416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98848" y="4553712"/>
            <a:ext cx="3209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Adjudicator / reviewer copilot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4498848" y="546811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RTM: 3.8.1.1 · 3.6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92440" y="3840480"/>
            <a:ext cx="3611880" cy="2121408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93608" y="4041648"/>
            <a:ext cx="914400" cy="384048"/>
          </a:xfrm>
          <a:prstGeom prst="roundRect">
            <a:avLst>
              <a:gd name="adj" fmla="val 19048"/>
            </a:avLst>
          </a:prstGeom>
          <a:solidFill>
            <a:srgbClr val="E6F1F1"/>
          </a:solidFill>
          <a:ln/>
        </p:spPr>
      </p:sp>
      <p:sp>
        <p:nvSpPr>
          <p:cNvPr id="31" name="Text 29"/>
          <p:cNvSpPr/>
          <p:nvPr/>
        </p:nvSpPr>
        <p:spPr>
          <a:xfrm>
            <a:off x="8293608" y="404164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UC-07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293608" y="4553712"/>
            <a:ext cx="32095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RPA across SOR steps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293608" y="5468112"/>
            <a:ext cx="3209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RTM: 3.8 · 3.3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Omega — AIE ROTC Accessions  ·  Pre-decisional, RTM-traced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Target-state architecture on the AIE stack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COTS-first, API-led, governed AI, IL4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E6F1F1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37160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474720" y="137160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6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portal &amp; cadre workspaces on Salesforce [2.5, 1.6] · conversational assistants · DocuSign signing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EAF2EA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219456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 / Case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474720" y="219456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6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Salesforce across CRM [2], Processing [3], On-Boarding [4] · configurable workflows [3.2] · single record [1.4]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CFE3E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01752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+ Automation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474720" y="301752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6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 &amp; Azure AI + Einstein (governed, in-boundary) · pre-screen [2.3.1.6] · suitability [3.8.1.1] · RPA [3.8]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0E7C7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84048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(backbone)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474720" y="384048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EAF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MuleSoft API-led per OV-3 [1.10, 3.3] → DoDMERB [3.3.1.7] · Security SOR [3.3.1.9/.10] · DCSA [3.4.4.25] · IPPS-A · HireVue · LMS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5EEC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466344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&amp; e-sign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474720" y="466344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6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DocuSign generate-and-sign forms, offers, contracting, consent [1.3]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48640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E7ECE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548640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&amp; security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474720" y="5486400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dirty="0">
                <a:solidFill>
                  <a:srgbClr val="36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COTS in commercial cloud (OV-1) · FedRAMP+/IL4 [1.11.1.59] · PII/PHI [1.11.1.75] · multi-tenant upgrades [1.11] · DevSecOps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Omega — AIE ROTC Accessions  ·  Pre-decisional, RTM-traced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AI, security &amp; governance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36776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36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54480" y="149047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by design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1837944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summarizes, validates &amp; recommends. Eligibility, selection, suitability &amp; clearance remain human under SEAD 4. Automated screening/suitability [3.8.1.1, 3.10.4.5] advise, not decide.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35224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35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7889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deterministic + generative AI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3136392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engines for policy-bound checks (predictable, auditable); generative AI for language tasks within guardrails.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922776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4233672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54480" y="40873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data protection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4434840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FedRAMP+/IL4 [1.11.1.59] · PII/PHI per DoDD 5400.11 &amp; DoDI 8580.02 [1.11.1.75] · DCSA-aligned SF-86 handling · AI inside the accredited boundary.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221224"/>
            <a:ext cx="1106424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553212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532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54480" y="53858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Transparency &amp; traceability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5733288"/>
            <a:ext cx="9875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evaluation, explainable scoring, and a logged record of each recommendation — inspection-ready and RTM-traceable.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Omega — AIE ROTC Accessions  ·  Pre-decisional, RTM-traced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Delivery: SAFe + DevSecOps on Azure DevOps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77240" y="16184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00200" y="16733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Agile Release Train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to AIE capabilities; PI planning &amp; continuous demos to USACC, DoDMERB &amp; DCSA stakeholders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92240" y="16184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0" y="16733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DevOps hub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24231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Backlog, boards, repos &amp; pipelines as one system — traceable to RTM requirement IDs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39044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00200" y="39593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DevSecOps pipelines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47091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for Salesforce (SFDX) &amp; MuleSoft with automated test, security scanning, policy-as-code, rollback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3703320"/>
            <a:ext cx="5440680" cy="2057400"/>
          </a:xfrm>
          <a:prstGeom prst="roundRect">
            <a:avLst>
              <a:gd name="adj" fmla="val 4000"/>
            </a:avLst>
          </a:prstGeom>
          <a:solidFill>
            <a:srgbClr val="F4F7F8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390448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FE3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315200" y="3959352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7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upgrades &amp; ATO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37960" y="470916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3A43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Leverage AIE multi-tenant continuous-upgrade model [1.11]; automate control evidence to sustain authorization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Omega — AIE ROTC Accessions  ·  Pre-decisional, RTM-traced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roadmap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66928" y="868680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E7C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Crawl, walk, run — value at every step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566160" cy="46634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1732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0E7C7B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2011680"/>
            <a:ext cx="3566160" cy="27432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Crawl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8952" y="251460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Cadet record &amp; workflows [1.4, 3.2]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DocuSign forms [1.3]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MuleSoft APIs to DoDMERB &amp; security SORs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wins: guided intake, document AI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79392" y="1417320"/>
            <a:ext cx="3566160" cy="46634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9392" y="141732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8A6D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279392" y="2011680"/>
            <a:ext cx="3566160" cy="274320"/>
          </a:xfrm>
          <a:prstGeom prst="rect">
            <a:avLst/>
          </a:prstGeom>
          <a:solidFill>
            <a:srgbClr val="8A6D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07992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Walk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07992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35424" y="251460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SF-86 pre-fill &amp; validation [3.4.4.20]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Adjudicator copilot [3.8.1.1]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packet assembly [2.1.4.7]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RPA across SORs [3.8]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55864" y="1417320"/>
            <a:ext cx="3566160" cy="466344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55864" y="1417320"/>
            <a:ext cx="3566160" cy="868680"/>
          </a:xfrm>
          <a:prstGeom prst="roundRect">
            <a:avLst>
              <a:gd name="adj" fmla="val 10526"/>
            </a:avLst>
          </a:prstGeom>
          <a:solidFill>
            <a:srgbClr val="5B3A86"/>
          </a:solidFill>
          <a:ln/>
        </p:spPr>
      </p:sp>
      <p:sp>
        <p:nvSpPr>
          <p:cNvPr id="18" name="Shape 16"/>
          <p:cNvSpPr/>
          <p:nvPr/>
        </p:nvSpPr>
        <p:spPr>
          <a:xfrm>
            <a:off x="8055864" y="2011680"/>
            <a:ext cx="3566160" cy="274320"/>
          </a:xfrm>
          <a:prstGeom prst="rect">
            <a:avLst/>
          </a:prstGeom>
          <a:solidFill>
            <a:srgbClr val="5B3A86"/>
          </a:solidFill>
          <a:ln/>
        </p:spPr>
      </p:sp>
      <p:sp>
        <p:nvSpPr>
          <p:cNvPr id="19" name="Text 17"/>
          <p:cNvSpPr/>
          <p:nvPr/>
        </p:nvSpPr>
        <p:spPr>
          <a:xfrm>
            <a:off x="8284464" y="148132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 — Run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84464" y="1874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2F6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11896" y="2514600"/>
            <a:ext cx="310896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&amp; funding analytics [5.1.4]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prioritization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data-quality &amp; ATO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to enlisted accessions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Alpha Omega — AIE ROTC Accessions  ·  Pre-decisional, RTM-traced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023360" cy="4023360"/>
          </a:xfrm>
          <a:prstGeom prst="ellipse">
            <a:avLst/>
          </a:prstGeom>
          <a:solidFill>
            <a:srgbClr val="27324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2732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Cycle time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→ contracting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0" y="155448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27324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737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Data quality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657600" y="2423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first-pass completeness; SF-86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27324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737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↑ On-time SF-86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400800" y="2423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60-day window [3.4.4.18]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61120" y="155448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27324F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0" y="17373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↓ Burden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144000" y="242316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7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Cadre/adjudicator hours (RPA)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5204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7D2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faster, cleaner, lower-risk ROTC accessions lifecycle for the Cadet and the adjudicator — traceable to the AIE RTM at every step, with every decision in human hands.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4572000"/>
            <a:ext cx="2743200" cy="41148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7548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step: a discovery session and a proof-of-concept to baseline current state and prioritize the first AIE increment.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 Brown, SVP National Security Solutions  ·  robert.brown@alphaomega.com  ·  Alpha Omega Integration LLC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AI-Enabled ROTC Accessions in the Army AIE</dc:title>
  <dc:subject>PptxGenJS Presentation</dc:subject>
  <dc:creator>Alpha Omega Integration LLC</dc:creator>
  <cp:lastModifiedBy>Alpha Omega Integration LLC</cp:lastModifiedBy>
  <cp:revision>1</cp:revision>
  <dcterms:created xsi:type="dcterms:W3CDTF">2026-06-25T20:52:47Z</dcterms:created>
  <dcterms:modified xsi:type="dcterms:W3CDTF">2026-06-25T20:52:47Z</dcterms:modified>
</cp:coreProperties>
</file>